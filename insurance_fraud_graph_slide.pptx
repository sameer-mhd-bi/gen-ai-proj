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Picture 7"/>
          <p:cNvPicPr/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6740525" y="10795"/>
            <a:ext cx="5450840" cy="684657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905" y="11430"/>
            <a:ext cx="12188825" cy="135509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85800" y="457200"/>
            <a:ext cx="10820095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365D"/>
                </a:solidFill>
                <a:latin typeface="Arial" panose="020B0604020202020204"/>
              </a:defRPr>
            </a:pPr>
            <a:r>
              <a:rPr sz="2800"/>
              <a:t>Unmasking Collusion: Detecting Insurance Fraud Rings</a:t>
            </a:r>
            <a:endParaRPr sz="2800"/>
          </a:p>
          <a:p>
            <a:pPr>
              <a:defRPr sz="1400" i="1">
                <a:solidFill>
                  <a:srgbClr val="2B6CB0"/>
                </a:solidFill>
                <a:latin typeface="Arial" panose="020B0604020202020204"/>
              </a:defRPr>
            </a:pPr>
            <a:r>
              <a:t>How Knowledge Graphs transform unstructured claims data into proactive network intelligence.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7040" y="1734820"/>
            <a:ext cx="5450205" cy="32321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B6CB0"/>
                </a:solidFill>
              </a:defRPr>
            </a:pPr>
            <a:r>
              <a:rPr u="sng"/>
              <a:t>THE INSURANCE FRAUD CHALLENGE</a:t>
            </a:r>
            <a:endParaRPr u="sng"/>
          </a:p>
          <a:p>
            <a:pPr marL="628650" lvl="1" indent="-171450" algn="l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2D3748"/>
                </a:solidFill>
              </a:defRPr>
            </a:pPr>
            <a:r>
              <a:rPr b="1"/>
              <a:t>Hidden Connections:</a:t>
            </a:r>
            <a:r>
              <a:t> Bad actors exploit data silos by staging accidents across different insurers, vehicles, and coverage policies.</a:t>
            </a:r>
          </a:p>
          <a:p>
            <a:pPr marL="628650" lvl="1" indent="-171450" algn="l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2D3748"/>
                </a:solidFill>
              </a:defRPr>
            </a:pPr>
            <a:r>
              <a:rPr b="1"/>
              <a:t>The 'Mule' Disguise: </a:t>
            </a:r>
            <a:r>
              <a:t>Individual claims look completely legitimate when evaluated in isolation by traditional rules engines.</a:t>
            </a:r>
          </a:p>
          <a:p>
            <a:pPr marL="628650" lvl="1" indent="-171450" algn="l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2D3748"/>
                </a:solidFill>
              </a:defRPr>
            </a:pPr>
            <a:r>
              <a:rPr b="1"/>
              <a:t>Coordinated Networks:</a:t>
            </a:r>
            <a:r>
              <a:t> Organized rings systematically drain payouts using shared links like identical body shops or medical clinics.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97625" y="1734185"/>
            <a:ext cx="5368290" cy="31845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B6CB0"/>
                </a:solidFill>
              </a:defRPr>
            </a:pPr>
            <a:r>
              <a:rPr u="sng"/>
              <a:t>THE KNOWLEDGE GRAPH SOLUTION</a:t>
            </a:r>
            <a:endParaRPr u="sng"/>
          </a:p>
          <a:p>
            <a:pPr marL="628650" lvl="1" indent="-17145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2D3748"/>
                </a:solidFill>
              </a:defRPr>
            </a:pPr>
            <a:r>
              <a:rPr b="1"/>
              <a:t>Entity Resolution: </a:t>
            </a:r>
            <a:r>
              <a:t>Converts raw text (PDF reports, call logs, invoices) into interconnected Subject → Predicate → Object triples.</a:t>
            </a:r>
          </a:p>
          <a:p>
            <a:pPr marL="628650" lvl="1" indent="-17145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2D3748"/>
                </a:solidFill>
              </a:defRPr>
            </a:pPr>
            <a:r>
              <a:rPr b="1"/>
              <a:t>Unified Network Analysis:</a:t>
            </a:r>
            <a:r>
              <a:t> Automatically links distinct policyholders if they share a digital footprint, device ID, or location.</a:t>
            </a:r>
          </a:p>
          <a:p>
            <a:pPr marL="628650" lvl="1" indent="-17145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2D3748"/>
                </a:solidFill>
              </a:defRPr>
            </a:pPr>
            <a:r>
              <a:rPr b="1"/>
              <a:t>Pattern Recognition:</a:t>
            </a:r>
            <a:r>
              <a:t> Uncovers circular cash flows, phantom passengers, and recurring vendor relationships instantly.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26720" y="5507355"/>
            <a:ext cx="11339195" cy="1194435"/>
          </a:xfrm>
          <a:prstGeom prst="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0665" y="5820410"/>
            <a:ext cx="11709400" cy="516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365D"/>
                </a:solidFill>
                <a:latin typeface="Courier New" panose="02070309020205020404"/>
              </a:defRPr>
            </a:pPr>
            <a:r>
              <a:rPr sz="1000"/>
              <a:t>[Claim 101] ──(Involves)──&gt; [Policyholder A] ──(Uses Device)──&gt; [HW_ID: 991X] &lt;──(Uses Device)── [Policyholder B] ──(Involves)──&gt; [Claim 102]</a:t>
            </a:r>
            <a:endParaRPr sz="1000"/>
          </a:p>
          <a:p>
            <a:pPr algn="ctr">
              <a:spcBef>
                <a:spcPts val="800"/>
              </a:spcBef>
              <a:defRPr sz="1100" i="1">
                <a:solidFill>
                  <a:srgbClr val="2D3748"/>
                </a:solidFill>
                <a:latin typeface="Arial" panose="020B0604020202020204"/>
              </a:defRPr>
            </a:pPr>
            <a:r>
              <a:t>💡 Value Impact: By connecting separate claim attributes into a single unified mesh, insurers intercept rings instead of single claims.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1233</Words>
  <Application>WPS Presentation</Application>
  <PresentationFormat>On-screen Show (4:3)</PresentationFormat>
  <Paragraphs>16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SimSun</vt:lpstr>
      <vt:lpstr>Wingdings</vt:lpstr>
      <vt:lpstr>Arial</vt:lpstr>
      <vt:lpstr>Courier New</vt:lpstr>
      <vt:lpstr>Calibri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Sameer M</cp:lastModifiedBy>
  <cp:revision>2</cp:revision>
  <dcterms:created xsi:type="dcterms:W3CDTF">2013-01-27T09:14:00Z</dcterms:created>
  <dcterms:modified xsi:type="dcterms:W3CDTF">2026-06-17T17:10:02Z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B408DB40E3A44B17A41ABDE9607A2575_12</vt:lpwstr>
  </property>
  <property fmtid="{D5CDD505-2E9C-101B-9397-08002B2CF9AE}" pid="3" name="KSOProductBuildVer">
    <vt:lpwstr>1033-12.1.0.26880</vt:lpwstr>
  </property>
</Properties>
</file>